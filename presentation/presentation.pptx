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2.svg" ContentType="image/svg"/>
  <Override PartName="/ppt/media/image22.svg" ContentType="image/svg"/>
  <Override PartName="/ppt/media/image8.svg" ContentType="image/svg"/>
  <Override PartName="/ppt/media/image10.svg" ContentType="image/svg"/>
  <Override PartName="/ppt/media/image20.svg" ContentType="image/svg"/>
  <Override PartName="/ppt/media/image16.svg" ContentType="image/svg"/>
  <Override PartName="/ppt/media/image6.svg" ContentType="image/svg"/>
  <Override PartName="/ppt/media/image14.svg" ContentType="image/svg"/>
  <Override PartName="/ppt/media/image2.svg" ContentType="image/svg"/>
  <Override PartName="/ppt/media/image18.svg" ContentType="image/svg"/>
  <Override PartName="/ppt/media/image4.svg" ContentType="image/svg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правки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формата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примеча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ний 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щёлкнит</a:t>
            </a: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60E3D6D-1746-4F95-9EE7-DE792AEE894E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584E1C-3DF9-4188-83C0-1E71E7D276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4038B6-53D2-4EC7-93B6-5D95D57AE2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73AA71-E82A-4A6C-AE4A-5F38B72DEE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88737A-9918-4B21-8B8E-493466741C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A657E2-8356-4D6C-AB7B-A9E0119955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E75BAF-4611-4BAE-8C4E-6A974D0C17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6B41A9-02BB-4A39-8E56-835330C3A8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7A96EB-C7D9-408F-87AD-1118A2EA3E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5E80C2-8EA4-41D5-8645-FE2170ED43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552280-1AB0-4D86-8CDD-399E10677D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FD7388-6438-4028-9480-EB21CD91E2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91412A-7F12-4C2A-B7E7-D5CF8D4E68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04A699-250F-4A93-BC18-CD2E20DD09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F89844-B5CB-4BE2-BB23-7D6F13B211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5F0683-5F25-4C76-B4F7-AA6B6A73AA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33A80B-42E7-41A1-ABF5-D4BCDF7A00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B9F64D-AA80-4A66-B241-600992E29A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83E6FE-0EA2-46FF-BAA8-86B1AE176C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правки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текста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заглавия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щёлкните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image" Target="../media/image13.png"/><Relationship Id="rId4" Type="http://schemas.openxmlformats.org/officeDocument/2006/relationships/image" Target="../media/image1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855960" y="762120"/>
            <a:ext cx="10574640" cy="20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 algn="ctr" defTabSz="914400">
              <a:lnSpc>
                <a:spcPct val="172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Министерство науки и высшего образования Российской Федерации Федеральное государственное автономное образовательное учреждение высшего образования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«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Московский государственный технический университет имени Н.Э. Баумана (национальный исследовательский университет)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» 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2"/>
          <p:cNvSpPr/>
          <p:nvPr/>
        </p:nvSpPr>
        <p:spPr>
          <a:xfrm>
            <a:off x="2326680" y="4448520"/>
            <a:ext cx="13632840" cy="15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algn="ctr"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Разработка базы данных для системы онлайн-заказа еды</a:t>
            </a:r>
            <a:endParaRPr lang="ru-RU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220000" y="7040880"/>
            <a:ext cx="19864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45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СТУДЕНТ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5257800" y="7405920"/>
            <a:ext cx="1986480" cy="38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Павлов Даниил Вявчесловович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257800" y="7793280"/>
            <a:ext cx="19864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группа ИУ7-63Б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11280600" y="7125120"/>
            <a:ext cx="21808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45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РУКОВОДИТЕЛЬ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1318760" y="7490160"/>
            <a:ext cx="1734120" cy="38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Кивва Кирилл Андреевич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11318760" y="7877520"/>
            <a:ext cx="21808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кафедра ИУ7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8200440" y="9315360"/>
            <a:ext cx="18856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pc="116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2026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Цель и задачи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990720" y="172584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1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ЦЕЛЬ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990720" y="2244960"/>
            <a:ext cx="13948200" cy="8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 defTabSz="914400">
              <a:lnSpc>
                <a:spcPct val="138000"/>
              </a:lnSpc>
              <a:tabLst>
                <a:tab algn="l" pos="0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Разработка базы данных для системы онлайн-заказа еды и приложения для доступа к ней.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990720" y="342000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1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ЗАДАЧИ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1062360" y="3780000"/>
            <a:ext cx="12976560" cy="23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проанализировать существующие системы онлайн-заказа еды;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определить требования к базе данных и приложению;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спроектировать базу данных, задать ограничения целостности;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выбрать средства реализации и реализовать систему;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исследовать влияние кэширования и индексации на время выполнения запросов.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Анализ предметной области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990720" y="1725840"/>
            <a:ext cx="15695640" cy="9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8000"/>
              </a:lnSpc>
              <a:tabLst>
                <a:tab algn="l" pos="0"/>
              </a:tabLst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Система онлайн-заказа еды — агрегатор, связывающий клиентов, рестораны и курьеров в единой платформе.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797400" y="2520000"/>
            <a:ext cx="4602600" cy="23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Клиент: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выбирает ресторан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формирует заказ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указывает адрес и способ оплаты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6480000" y="6120000"/>
            <a:ext cx="4964400" cy="34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Стоимость доставки: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динамическая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удалённость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время суток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день недели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зоны и тарифы ресторана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бесплатно от минимальной суммы.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020000" y="2668680"/>
            <a:ext cx="3600000" cy="18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Ресторан: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подтверждает заказ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готовит блюда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передаёт его курьеру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2241800" y="2668680"/>
            <a:ext cx="4858200" cy="18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Курьер: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принимает заказ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доставляет клиенту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получает рейтинг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720000" y="6120000"/>
            <a:ext cx="4680000" cy="32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Меню и категории: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блюдо может входить в несколько категорий одновременно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фильтрация по категории, наличию и диапозону цен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505480" y="3057120"/>
            <a:ext cx="61452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4500" b="0" u="none" strike="noStrike">
                <a:solidFill>
                  <a:srgbClr val="1f3a5f"/>
                </a:solidFill>
                <a:effectLst/>
                <a:uFillTx/>
                <a:latin typeface="Times New Roman"/>
                <a:ea typeface="Times New Roman"/>
              </a:rPr>
              <a:t>→</a:t>
            </a:r>
            <a:endParaRPr lang="ru-RU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1265480" y="3205800"/>
            <a:ext cx="61452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4500" b="0" u="none" strike="noStrike">
                <a:solidFill>
                  <a:srgbClr val="1f3a5f"/>
                </a:solidFill>
                <a:effectLst/>
                <a:uFillTx/>
                <a:latin typeface="Times New Roman"/>
                <a:ea typeface="Times New Roman"/>
              </a:rPr>
              <a:t>→</a:t>
            </a:r>
            <a:endParaRPr lang="ru-RU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35"/>
          <p:cNvSpPr/>
          <p:nvPr/>
        </p:nvSpPr>
        <p:spPr>
          <a:xfrm>
            <a:off x="720000" y="4978080"/>
            <a:ext cx="15922440" cy="78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Times New Roman"/>
              </a:rPr>
              <a:t>Статус заказа обновляется на каждом этапе — клиент отслеживает доставку в реальном времени.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7"/>
          <p:cNvSpPr/>
          <p:nvPr/>
        </p:nvSpPr>
        <p:spPr>
          <a:xfrm>
            <a:off x="12060000" y="6120000"/>
            <a:ext cx="4964400" cy="34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/>
          </a:bodyPr>
          <a:p>
            <a:pPr defTabSz="914400">
              <a:lnSpc>
                <a:spcPct val="135000"/>
              </a:lnSpc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Отзывы и рейтинг: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оцениваются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ресторан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135000"/>
              </a:lnSpc>
              <a:buClr>
                <a:srgbClr val="000000"/>
              </a:buClr>
              <a:buSzPct val="45000"/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курьер (качество доставки)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ru-RU" sz="217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Формируется автоматически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algn="l" pos="0"/>
              </a:tabLst>
            </a:pP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Сравнительный анализ существующих решений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"/>
          <p:cNvSpPr/>
          <p:nvPr/>
        </p:nvSpPr>
        <p:spPr>
          <a:xfrm>
            <a:off x="994680" y="1729800"/>
            <a:ext cx="941652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1154880" y="187128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Критерий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10412280" y="1729800"/>
            <a:ext cx="264528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0526400" y="187128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Яндекс Еда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13058640" y="1729800"/>
            <a:ext cx="206028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13161600" y="187128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Деливери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15120000" y="1729800"/>
            <a:ext cx="217188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15279480" y="187128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Купер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9"/>
          <p:cNvSpPr/>
          <p:nvPr/>
        </p:nvSpPr>
        <p:spPr>
          <a:xfrm>
            <a:off x="994680" y="231840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0"/>
          <p:cNvSpPr/>
          <p:nvPr/>
        </p:nvSpPr>
        <p:spPr>
          <a:xfrm>
            <a:off x="1154880" y="244044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Каталог блюд с категориями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1"/>
          <p:cNvSpPr/>
          <p:nvPr/>
        </p:nvSpPr>
        <p:spPr>
          <a:xfrm>
            <a:off x="10412280" y="231840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10526400" y="244044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13058640" y="231840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13161600" y="244044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5"/>
          <p:cNvSpPr/>
          <p:nvPr/>
        </p:nvSpPr>
        <p:spPr>
          <a:xfrm>
            <a:off x="15120000" y="231840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15279480" y="244044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7"/>
          <p:cNvSpPr/>
          <p:nvPr/>
        </p:nvSpPr>
        <p:spPr>
          <a:xfrm>
            <a:off x="994680" y="286848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1154880" y="299052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Несколько адресов у клиента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"/>
          <p:cNvSpPr/>
          <p:nvPr/>
        </p:nvSpPr>
        <p:spPr>
          <a:xfrm>
            <a:off x="10412280" y="286848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10526400" y="299052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1"/>
          <p:cNvSpPr/>
          <p:nvPr/>
        </p:nvSpPr>
        <p:spPr>
          <a:xfrm>
            <a:off x="13058640" y="286848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13161600" y="299052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15120000" y="286848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"/>
          <p:cNvSpPr/>
          <p:nvPr/>
        </p:nvSpPr>
        <p:spPr>
          <a:xfrm>
            <a:off x="15279480" y="299052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5"/>
          <p:cNvSpPr/>
          <p:nvPr/>
        </p:nvSpPr>
        <p:spPr>
          <a:xfrm>
            <a:off x="994680" y="341856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6"/>
          <p:cNvSpPr/>
          <p:nvPr/>
        </p:nvSpPr>
        <p:spPr>
          <a:xfrm>
            <a:off x="1154880" y="354096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Отслеживание статуса заказа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7"/>
          <p:cNvSpPr/>
          <p:nvPr/>
        </p:nvSpPr>
        <p:spPr>
          <a:xfrm>
            <a:off x="10412280" y="341856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8"/>
          <p:cNvSpPr/>
          <p:nvPr/>
        </p:nvSpPr>
        <p:spPr>
          <a:xfrm>
            <a:off x="10526400" y="354096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9"/>
          <p:cNvSpPr/>
          <p:nvPr/>
        </p:nvSpPr>
        <p:spPr>
          <a:xfrm>
            <a:off x="13058640" y="341856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0"/>
          <p:cNvSpPr/>
          <p:nvPr/>
        </p:nvSpPr>
        <p:spPr>
          <a:xfrm>
            <a:off x="13161600" y="354096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1"/>
          <p:cNvSpPr/>
          <p:nvPr/>
        </p:nvSpPr>
        <p:spPr>
          <a:xfrm>
            <a:off x="15120000" y="341856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2"/>
          <p:cNvSpPr/>
          <p:nvPr/>
        </p:nvSpPr>
        <p:spPr>
          <a:xfrm>
            <a:off x="15279480" y="354096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3"/>
          <p:cNvSpPr/>
          <p:nvPr/>
        </p:nvSpPr>
        <p:spPr>
          <a:xfrm>
            <a:off x="994680" y="396900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4"/>
          <p:cNvSpPr/>
          <p:nvPr/>
        </p:nvSpPr>
        <p:spPr>
          <a:xfrm>
            <a:off x="1154880" y="409104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История заказов · отзывы и рейтинги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5"/>
          <p:cNvSpPr/>
          <p:nvPr/>
        </p:nvSpPr>
        <p:spPr>
          <a:xfrm>
            <a:off x="10412280" y="396900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6"/>
          <p:cNvSpPr/>
          <p:nvPr/>
        </p:nvSpPr>
        <p:spPr>
          <a:xfrm>
            <a:off x="10526400" y="409104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7"/>
          <p:cNvSpPr/>
          <p:nvPr/>
        </p:nvSpPr>
        <p:spPr>
          <a:xfrm>
            <a:off x="13058640" y="396900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8"/>
          <p:cNvSpPr/>
          <p:nvPr/>
        </p:nvSpPr>
        <p:spPr>
          <a:xfrm>
            <a:off x="13161600" y="409104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9"/>
          <p:cNvSpPr/>
          <p:nvPr/>
        </p:nvSpPr>
        <p:spPr>
          <a:xfrm>
            <a:off x="15120000" y="396900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0"/>
          <p:cNvSpPr/>
          <p:nvPr/>
        </p:nvSpPr>
        <p:spPr>
          <a:xfrm>
            <a:off x="15279480" y="409104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1"/>
          <p:cNvSpPr/>
          <p:nvPr/>
        </p:nvSpPr>
        <p:spPr>
          <a:xfrm>
            <a:off x="994680" y="451908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2"/>
          <p:cNvSpPr/>
          <p:nvPr/>
        </p:nvSpPr>
        <p:spPr>
          <a:xfrm>
            <a:off x="1154880" y="464148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Несколько способов оплаты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3"/>
          <p:cNvSpPr/>
          <p:nvPr/>
        </p:nvSpPr>
        <p:spPr>
          <a:xfrm>
            <a:off x="10412280" y="451908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4"/>
          <p:cNvSpPr/>
          <p:nvPr/>
        </p:nvSpPr>
        <p:spPr>
          <a:xfrm>
            <a:off x="10526400" y="464148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5"/>
          <p:cNvSpPr/>
          <p:nvPr/>
        </p:nvSpPr>
        <p:spPr>
          <a:xfrm>
            <a:off x="13058640" y="451908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6"/>
          <p:cNvSpPr/>
          <p:nvPr/>
        </p:nvSpPr>
        <p:spPr>
          <a:xfrm>
            <a:off x="13161600" y="464148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7"/>
          <p:cNvSpPr/>
          <p:nvPr/>
        </p:nvSpPr>
        <p:spPr>
          <a:xfrm>
            <a:off x="15120000" y="451908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8"/>
          <p:cNvSpPr/>
          <p:nvPr/>
        </p:nvSpPr>
        <p:spPr>
          <a:xfrm>
            <a:off x="15279480" y="464148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9"/>
          <p:cNvSpPr/>
          <p:nvPr/>
        </p:nvSpPr>
        <p:spPr>
          <a:xfrm>
            <a:off x="994680" y="506952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0"/>
          <p:cNvSpPr/>
          <p:nvPr/>
        </p:nvSpPr>
        <p:spPr>
          <a:xfrm>
            <a:off x="1154880" y="519156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Динамическая стоимость доставки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51"/>
          <p:cNvSpPr/>
          <p:nvPr/>
        </p:nvSpPr>
        <p:spPr>
          <a:xfrm>
            <a:off x="10412280" y="506952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52"/>
          <p:cNvSpPr/>
          <p:nvPr/>
        </p:nvSpPr>
        <p:spPr>
          <a:xfrm>
            <a:off x="10526400" y="519156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53"/>
          <p:cNvSpPr/>
          <p:nvPr/>
        </p:nvSpPr>
        <p:spPr>
          <a:xfrm>
            <a:off x="13058640" y="506952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4"/>
          <p:cNvSpPr/>
          <p:nvPr/>
        </p:nvSpPr>
        <p:spPr>
          <a:xfrm>
            <a:off x="13161600" y="519156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5"/>
          <p:cNvSpPr/>
          <p:nvPr/>
        </p:nvSpPr>
        <p:spPr>
          <a:xfrm>
            <a:off x="15120000" y="506952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6"/>
          <p:cNvSpPr/>
          <p:nvPr/>
        </p:nvSpPr>
        <p:spPr>
          <a:xfrm>
            <a:off x="15279480" y="519156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57"/>
          <p:cNvSpPr/>
          <p:nvPr/>
        </p:nvSpPr>
        <p:spPr>
          <a:xfrm>
            <a:off x="994680" y="561960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8"/>
          <p:cNvSpPr/>
          <p:nvPr/>
        </p:nvSpPr>
        <p:spPr>
          <a:xfrm>
            <a:off x="1154880" y="574200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Собственные условия доставки у заведения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59"/>
          <p:cNvSpPr/>
          <p:nvPr/>
        </p:nvSpPr>
        <p:spPr>
          <a:xfrm>
            <a:off x="10412280" y="5619600"/>
            <a:ext cx="2645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0"/>
          <p:cNvSpPr/>
          <p:nvPr/>
        </p:nvSpPr>
        <p:spPr>
          <a:xfrm>
            <a:off x="10526400" y="5742000"/>
            <a:ext cx="24174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61"/>
          <p:cNvSpPr/>
          <p:nvPr/>
        </p:nvSpPr>
        <p:spPr>
          <a:xfrm>
            <a:off x="13058640" y="5619600"/>
            <a:ext cx="20602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2"/>
          <p:cNvSpPr/>
          <p:nvPr/>
        </p:nvSpPr>
        <p:spPr>
          <a:xfrm>
            <a:off x="13161600" y="5742000"/>
            <a:ext cx="1855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3"/>
          <p:cNvSpPr/>
          <p:nvPr/>
        </p:nvSpPr>
        <p:spPr>
          <a:xfrm>
            <a:off x="15120000" y="5619600"/>
            <a:ext cx="217188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4"/>
          <p:cNvSpPr/>
          <p:nvPr/>
        </p:nvSpPr>
        <p:spPr>
          <a:xfrm>
            <a:off x="15279480" y="5742000"/>
            <a:ext cx="185220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5"/>
          <p:cNvSpPr/>
          <p:nvPr/>
        </p:nvSpPr>
        <p:spPr>
          <a:xfrm>
            <a:off x="994680" y="6169680"/>
            <a:ext cx="94165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6"/>
          <p:cNvSpPr/>
          <p:nvPr/>
        </p:nvSpPr>
        <p:spPr>
          <a:xfrm>
            <a:off x="1154880" y="6292080"/>
            <a:ext cx="937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Открытый публичный API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67"/>
          <p:cNvSpPr/>
          <p:nvPr/>
        </p:nvSpPr>
        <p:spPr>
          <a:xfrm>
            <a:off x="10412280" y="6169680"/>
            <a:ext cx="2645280" cy="548640"/>
          </a:xfrm>
          <a:prstGeom prst="rect">
            <a:avLst/>
          </a:prstGeom>
          <a:solidFill>
            <a:srgbClr val="ff8000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8"/>
          <p:cNvSpPr/>
          <p:nvPr/>
        </p:nvSpPr>
        <p:spPr>
          <a:xfrm>
            <a:off x="10526400" y="6292080"/>
            <a:ext cx="2417400" cy="342360"/>
          </a:xfrm>
          <a:prstGeom prst="rect">
            <a:avLst/>
          </a:prstGeom>
          <a:solidFill>
            <a:srgbClr val="ff8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69"/>
          <p:cNvSpPr/>
          <p:nvPr/>
        </p:nvSpPr>
        <p:spPr>
          <a:xfrm>
            <a:off x="13058640" y="6169680"/>
            <a:ext cx="2060280" cy="548640"/>
          </a:xfrm>
          <a:prstGeom prst="rect">
            <a:avLst/>
          </a:prstGeom>
          <a:solidFill>
            <a:srgbClr val="ff8000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0"/>
          <p:cNvSpPr/>
          <p:nvPr/>
        </p:nvSpPr>
        <p:spPr>
          <a:xfrm>
            <a:off x="13161600" y="6292080"/>
            <a:ext cx="1855080" cy="342360"/>
          </a:xfrm>
          <a:prstGeom prst="rect">
            <a:avLst/>
          </a:prstGeom>
          <a:solidFill>
            <a:srgbClr val="ff8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1"/>
          <p:cNvSpPr/>
          <p:nvPr/>
        </p:nvSpPr>
        <p:spPr>
          <a:xfrm>
            <a:off x="15120000" y="6169680"/>
            <a:ext cx="2171880" cy="548640"/>
          </a:xfrm>
          <a:prstGeom prst="rect">
            <a:avLst/>
          </a:prstGeom>
          <a:solidFill>
            <a:srgbClr val="ff8000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72"/>
          <p:cNvSpPr/>
          <p:nvPr/>
        </p:nvSpPr>
        <p:spPr>
          <a:xfrm>
            <a:off x="15279480" y="6292080"/>
            <a:ext cx="1852200" cy="342360"/>
          </a:xfrm>
          <a:prstGeom prst="rect">
            <a:avLst/>
          </a:prstGeom>
          <a:solidFill>
            <a:srgbClr val="ff8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73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Требования к системе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990720" y="172584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5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БАЗА ДАННЫХ</a:t>
            </a:r>
            <a:endParaRPr lang="ru-RU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817200" y="2244960"/>
            <a:ext cx="8096760" cy="26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хранение данных о клиентах, ресторанах, курьерах, заказах;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связи между сущностями; поддержка истории и отзывов;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целостность: внешние ключи, запрет NULL в обязательных полях;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нормализация до 3НФ;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масштабируемость без перестройки схемы.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9448920" y="172584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5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ПРИЛОЖЕНИЕ</a:t>
            </a:r>
            <a:endParaRPr lang="ru-RU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9275400" y="2244960"/>
            <a:ext cx="8096760" cy="26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регистрация и аутентификация по JWT;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просмотр меню, оформление и отслеживание заказов;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управление ресторанами, меню и курьерами;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пароли в хэшированном виде; корректная обработка ошибок;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en-US" sz="21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открытый публичный API с интерактивной документацией.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Диаграмма сущность-связь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80000" y="1196640"/>
            <a:ext cx="15660000" cy="870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Роли пользователей системы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358160" y="1260000"/>
            <a:ext cx="8421840" cy="82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900000" y="3600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Схема базы данных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00000" y="900000"/>
            <a:ext cx="9562320" cy="880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Функция расчёта суммы заказа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1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267200"/>
            <a:ext cx="7273800" cy="901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000000" y="1440000"/>
            <a:ext cx="6388920" cy="72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13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Триггеры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06760" y="2190960"/>
            <a:ext cx="8012160" cy="662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266760" y="2160000"/>
            <a:ext cx="8012160" cy="662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Взаимодействие приложения с РСУБД и In-Memory СУБД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140000" y="1983960"/>
            <a:ext cx="9899280" cy="701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21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Структура приложения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7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340000" y="1440000"/>
            <a:ext cx="13604040" cy="805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Выбор СУБД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"/>
          <p:cNvSpPr/>
          <p:nvPr/>
        </p:nvSpPr>
        <p:spPr>
          <a:xfrm>
            <a:off x="994680" y="1729800"/>
            <a:ext cx="631800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1154880" y="187128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Критерий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"/>
          <p:cNvSpPr/>
          <p:nvPr/>
        </p:nvSpPr>
        <p:spPr>
          <a:xfrm>
            <a:off x="7313760" y="1729800"/>
            <a:ext cx="2752560" cy="58680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"/>
          <p:cNvSpPr/>
          <p:nvPr/>
        </p:nvSpPr>
        <p:spPr>
          <a:xfrm>
            <a:off x="7432920" y="187128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PostgreSQL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5"/>
          <p:cNvSpPr/>
          <p:nvPr/>
        </p:nvSpPr>
        <p:spPr>
          <a:xfrm>
            <a:off x="10067760" y="1729800"/>
            <a:ext cx="219672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10190160" y="187128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MySQL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7"/>
          <p:cNvSpPr/>
          <p:nvPr/>
        </p:nvSpPr>
        <p:spPr>
          <a:xfrm>
            <a:off x="12266280" y="1729800"/>
            <a:ext cx="332172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2376800" y="187128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MS SQL Server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9"/>
          <p:cNvSpPr/>
          <p:nvPr/>
        </p:nvSpPr>
        <p:spPr>
          <a:xfrm>
            <a:off x="15589080" y="1729800"/>
            <a:ext cx="170280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0"/>
          <p:cNvSpPr/>
          <p:nvPr/>
        </p:nvSpPr>
        <p:spPr>
          <a:xfrm>
            <a:off x="15711480" y="187128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Oracle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1"/>
          <p:cNvSpPr/>
          <p:nvPr/>
        </p:nvSpPr>
        <p:spPr>
          <a:xfrm>
            <a:off x="994680" y="2318400"/>
            <a:ext cx="63180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2"/>
          <p:cNvSpPr/>
          <p:nvPr/>
        </p:nvSpPr>
        <p:spPr>
          <a:xfrm>
            <a:off x="1154880" y="244044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Открытый исходный код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3"/>
          <p:cNvSpPr/>
          <p:nvPr/>
        </p:nvSpPr>
        <p:spPr>
          <a:xfrm>
            <a:off x="7313760" y="2318400"/>
            <a:ext cx="2752560" cy="54864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7432920" y="244044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5"/>
          <p:cNvSpPr/>
          <p:nvPr/>
        </p:nvSpPr>
        <p:spPr>
          <a:xfrm>
            <a:off x="10067760" y="2318400"/>
            <a:ext cx="2196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10190160" y="244044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7"/>
          <p:cNvSpPr/>
          <p:nvPr/>
        </p:nvSpPr>
        <p:spPr>
          <a:xfrm>
            <a:off x="12266280" y="2318400"/>
            <a:ext cx="3321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8"/>
          <p:cNvSpPr/>
          <p:nvPr/>
        </p:nvSpPr>
        <p:spPr>
          <a:xfrm>
            <a:off x="12376800" y="244044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15589080" y="2318400"/>
            <a:ext cx="17028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0"/>
          <p:cNvSpPr/>
          <p:nvPr/>
        </p:nvSpPr>
        <p:spPr>
          <a:xfrm>
            <a:off x="15711480" y="244044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1"/>
          <p:cNvSpPr/>
          <p:nvPr/>
        </p:nvSpPr>
        <p:spPr>
          <a:xfrm>
            <a:off x="994680" y="2868480"/>
            <a:ext cx="63180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2"/>
          <p:cNvSpPr/>
          <p:nvPr/>
        </p:nvSpPr>
        <p:spPr>
          <a:xfrm>
            <a:off x="1154880" y="299052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Бесплатное распространение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3"/>
          <p:cNvSpPr/>
          <p:nvPr/>
        </p:nvSpPr>
        <p:spPr>
          <a:xfrm>
            <a:off x="7313760" y="2868480"/>
            <a:ext cx="2752560" cy="54864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4"/>
          <p:cNvSpPr/>
          <p:nvPr/>
        </p:nvSpPr>
        <p:spPr>
          <a:xfrm>
            <a:off x="7432920" y="299052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5"/>
          <p:cNvSpPr/>
          <p:nvPr/>
        </p:nvSpPr>
        <p:spPr>
          <a:xfrm>
            <a:off x="10067760" y="2868480"/>
            <a:ext cx="2196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6"/>
          <p:cNvSpPr/>
          <p:nvPr/>
        </p:nvSpPr>
        <p:spPr>
          <a:xfrm>
            <a:off x="10190160" y="299052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Частично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7"/>
          <p:cNvSpPr/>
          <p:nvPr/>
        </p:nvSpPr>
        <p:spPr>
          <a:xfrm>
            <a:off x="12266280" y="2868480"/>
            <a:ext cx="3321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8"/>
          <p:cNvSpPr/>
          <p:nvPr/>
        </p:nvSpPr>
        <p:spPr>
          <a:xfrm>
            <a:off x="12376800" y="299052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9"/>
          <p:cNvSpPr/>
          <p:nvPr/>
        </p:nvSpPr>
        <p:spPr>
          <a:xfrm>
            <a:off x="15589080" y="2868480"/>
            <a:ext cx="17028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0"/>
          <p:cNvSpPr/>
          <p:nvPr/>
        </p:nvSpPr>
        <p:spPr>
          <a:xfrm>
            <a:off x="15711480" y="299052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Нет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31"/>
          <p:cNvSpPr/>
          <p:nvPr/>
        </p:nvSpPr>
        <p:spPr>
          <a:xfrm>
            <a:off x="994680" y="3418560"/>
            <a:ext cx="63180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2"/>
          <p:cNvSpPr/>
          <p:nvPr/>
        </p:nvSpPr>
        <p:spPr>
          <a:xfrm>
            <a:off x="1154880" y="354096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Полная поддержка ACID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3"/>
          <p:cNvSpPr/>
          <p:nvPr/>
        </p:nvSpPr>
        <p:spPr>
          <a:xfrm>
            <a:off x="7313760" y="3418560"/>
            <a:ext cx="2752560" cy="54864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4"/>
          <p:cNvSpPr/>
          <p:nvPr/>
        </p:nvSpPr>
        <p:spPr>
          <a:xfrm>
            <a:off x="7432920" y="354096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5"/>
          <p:cNvSpPr/>
          <p:nvPr/>
        </p:nvSpPr>
        <p:spPr>
          <a:xfrm>
            <a:off x="10067760" y="3418560"/>
            <a:ext cx="2196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6"/>
          <p:cNvSpPr/>
          <p:nvPr/>
        </p:nvSpPr>
        <p:spPr>
          <a:xfrm>
            <a:off x="10190160" y="354096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7"/>
          <p:cNvSpPr/>
          <p:nvPr/>
        </p:nvSpPr>
        <p:spPr>
          <a:xfrm>
            <a:off x="12266280" y="3418560"/>
            <a:ext cx="3321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8"/>
          <p:cNvSpPr/>
          <p:nvPr/>
        </p:nvSpPr>
        <p:spPr>
          <a:xfrm>
            <a:off x="12376800" y="354096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39"/>
          <p:cNvSpPr/>
          <p:nvPr/>
        </p:nvSpPr>
        <p:spPr>
          <a:xfrm>
            <a:off x="15589080" y="3418560"/>
            <a:ext cx="17028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40"/>
          <p:cNvSpPr/>
          <p:nvPr/>
        </p:nvSpPr>
        <p:spPr>
          <a:xfrm>
            <a:off x="15711480" y="354096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1"/>
          <p:cNvSpPr/>
          <p:nvPr/>
        </p:nvSpPr>
        <p:spPr>
          <a:xfrm>
            <a:off x="994680" y="3969000"/>
            <a:ext cx="63180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42"/>
          <p:cNvSpPr/>
          <p:nvPr/>
        </p:nvSpPr>
        <p:spPr>
          <a:xfrm>
            <a:off x="1154880" y="409104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Поддержка JSON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43"/>
          <p:cNvSpPr/>
          <p:nvPr/>
        </p:nvSpPr>
        <p:spPr>
          <a:xfrm>
            <a:off x="7313760" y="3969000"/>
            <a:ext cx="2752560" cy="54864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4"/>
          <p:cNvSpPr/>
          <p:nvPr/>
        </p:nvSpPr>
        <p:spPr>
          <a:xfrm>
            <a:off x="7432920" y="409104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5"/>
          <p:cNvSpPr/>
          <p:nvPr/>
        </p:nvSpPr>
        <p:spPr>
          <a:xfrm>
            <a:off x="10067760" y="3969000"/>
            <a:ext cx="2196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46"/>
          <p:cNvSpPr/>
          <p:nvPr/>
        </p:nvSpPr>
        <p:spPr>
          <a:xfrm>
            <a:off x="10190160" y="409104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47"/>
          <p:cNvSpPr/>
          <p:nvPr/>
        </p:nvSpPr>
        <p:spPr>
          <a:xfrm>
            <a:off x="12266280" y="3969000"/>
            <a:ext cx="3321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8"/>
          <p:cNvSpPr/>
          <p:nvPr/>
        </p:nvSpPr>
        <p:spPr>
          <a:xfrm>
            <a:off x="12376800" y="409104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49"/>
          <p:cNvSpPr/>
          <p:nvPr/>
        </p:nvSpPr>
        <p:spPr>
          <a:xfrm>
            <a:off x="15589080" y="3969000"/>
            <a:ext cx="17028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50"/>
          <p:cNvSpPr/>
          <p:nvPr/>
        </p:nvSpPr>
        <p:spPr>
          <a:xfrm>
            <a:off x="15711480" y="409104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51"/>
          <p:cNvSpPr/>
          <p:nvPr/>
        </p:nvSpPr>
        <p:spPr>
          <a:xfrm>
            <a:off x="994680" y="4519080"/>
            <a:ext cx="63180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2"/>
          <p:cNvSpPr/>
          <p:nvPr/>
        </p:nvSpPr>
        <p:spPr>
          <a:xfrm>
            <a:off x="1154880" y="4641480"/>
            <a:ext cx="61869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Репликация данных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53"/>
          <p:cNvSpPr/>
          <p:nvPr/>
        </p:nvSpPr>
        <p:spPr>
          <a:xfrm>
            <a:off x="7313760" y="4519080"/>
            <a:ext cx="2752560" cy="548640"/>
          </a:xfrm>
          <a:prstGeom prst="rect">
            <a:avLst/>
          </a:prstGeom>
          <a:solidFill>
            <a:srgbClr val="ff972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4"/>
          <p:cNvSpPr/>
          <p:nvPr/>
        </p:nvSpPr>
        <p:spPr>
          <a:xfrm>
            <a:off x="7432920" y="4641480"/>
            <a:ext cx="2514600" cy="342360"/>
          </a:xfrm>
          <a:prstGeom prst="rect">
            <a:avLst/>
          </a:prstGeom>
          <a:solidFill>
            <a:srgbClr val="ff97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55"/>
          <p:cNvSpPr/>
          <p:nvPr/>
        </p:nvSpPr>
        <p:spPr>
          <a:xfrm>
            <a:off x="10067760" y="4519080"/>
            <a:ext cx="2196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56"/>
          <p:cNvSpPr/>
          <p:nvPr/>
        </p:nvSpPr>
        <p:spPr>
          <a:xfrm>
            <a:off x="10190160" y="4641480"/>
            <a:ext cx="19522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7"/>
          <p:cNvSpPr/>
          <p:nvPr/>
        </p:nvSpPr>
        <p:spPr>
          <a:xfrm>
            <a:off x="12266280" y="4519080"/>
            <a:ext cx="332172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8"/>
          <p:cNvSpPr/>
          <p:nvPr/>
        </p:nvSpPr>
        <p:spPr>
          <a:xfrm>
            <a:off x="12376800" y="4641480"/>
            <a:ext cx="31006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59"/>
          <p:cNvSpPr/>
          <p:nvPr/>
        </p:nvSpPr>
        <p:spPr>
          <a:xfrm>
            <a:off x="15589080" y="4519080"/>
            <a:ext cx="1702800" cy="5486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0"/>
          <p:cNvSpPr/>
          <p:nvPr/>
        </p:nvSpPr>
        <p:spPr>
          <a:xfrm>
            <a:off x="15711480" y="4641480"/>
            <a:ext cx="145836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850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Да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61"/>
          <p:cNvSpPr/>
          <p:nvPr/>
        </p:nvSpPr>
        <p:spPr>
          <a:xfrm>
            <a:off x="990720" y="5339880"/>
            <a:ext cx="16794720" cy="8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lang="en-US" sz="22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Выбран PostgreSQL </a:t>
            </a:r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— свободная лицензия без ограничений на коммерческое использование при полной поддержке ACID, JSON и репликации.</a:t>
            </a:r>
            <a:endParaRPr lang="ru-RU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2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Ролевая модель доступа на уровне БД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"/>
          <p:cNvSpPr/>
          <p:nvPr/>
        </p:nvSpPr>
        <p:spPr>
          <a:xfrm>
            <a:off x="994680" y="1729800"/>
            <a:ext cx="364140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"/>
          <p:cNvSpPr/>
          <p:nvPr/>
        </p:nvSpPr>
        <p:spPr>
          <a:xfrm>
            <a:off x="1154880" y="1871280"/>
            <a:ext cx="343008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 anchorCtr="1">
            <a:normAutofit fontScale="85000" lnSpcReduction="1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Роль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3"/>
          <p:cNvSpPr/>
          <p:nvPr/>
        </p:nvSpPr>
        <p:spPr>
          <a:xfrm>
            <a:off x="4637520" y="1729800"/>
            <a:ext cx="782208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"/>
          <p:cNvSpPr/>
          <p:nvPr/>
        </p:nvSpPr>
        <p:spPr>
          <a:xfrm>
            <a:off x="4798080" y="1871280"/>
            <a:ext cx="773604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 anchorCtr="1">
            <a:normAutofit fontScale="85000" lnSpcReduction="1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Объекты доступа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5"/>
          <p:cNvSpPr/>
          <p:nvPr/>
        </p:nvSpPr>
        <p:spPr>
          <a:xfrm>
            <a:off x="12461040" y="1729800"/>
            <a:ext cx="4831200" cy="58680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12548880" y="1871280"/>
            <a:ext cx="4655520" cy="342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b" anchorCtr="1">
            <a:normAutofit fontScale="85000" lnSpcReduction="1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Права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7"/>
          <p:cNvSpPr/>
          <p:nvPr/>
        </p:nvSpPr>
        <p:spPr>
          <a:xfrm>
            <a:off x="994680" y="2318400"/>
            <a:ext cx="36414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8"/>
          <p:cNvSpPr/>
          <p:nvPr/>
        </p:nvSpPr>
        <p:spPr>
          <a:xfrm>
            <a:off x="1154880" y="2440440"/>
            <a:ext cx="343008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Клиент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9"/>
          <p:cNvSpPr/>
          <p:nvPr/>
        </p:nvSpPr>
        <p:spPr>
          <a:xfrm>
            <a:off x="4637520" y="2318400"/>
            <a:ext cx="782208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0"/>
          <p:cNvSpPr/>
          <p:nvPr/>
        </p:nvSpPr>
        <p:spPr>
          <a:xfrm>
            <a:off x="4798080" y="2340000"/>
            <a:ext cx="7736040" cy="841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9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собственные</a:t>
            </a:r>
            <a:r>
              <a:rPr lang="en-US" sz="187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orders, order_items, customer_addresses, reviews; чтение меню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1"/>
          <p:cNvSpPr/>
          <p:nvPr/>
        </p:nvSpPr>
        <p:spPr>
          <a:xfrm>
            <a:off x="12461040" y="2318400"/>
            <a:ext cx="48312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2"/>
          <p:cNvSpPr/>
          <p:nvPr/>
        </p:nvSpPr>
        <p:spPr>
          <a:xfrm>
            <a:off x="12548880" y="2440440"/>
            <a:ext cx="465552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 anchorCtr="1">
            <a:normAutofit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SELECT, INSERT, UPDATE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3"/>
          <p:cNvSpPr/>
          <p:nvPr/>
        </p:nvSpPr>
        <p:spPr>
          <a:xfrm>
            <a:off x="994680" y="3182040"/>
            <a:ext cx="36414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1154880" y="3304440"/>
            <a:ext cx="343008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Администратор ресторана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4637520" y="3182040"/>
            <a:ext cx="782208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6"/>
          <p:cNvSpPr/>
          <p:nvPr/>
        </p:nvSpPr>
        <p:spPr>
          <a:xfrm>
            <a:off x="4798080" y="3304440"/>
            <a:ext cx="773604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7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меню</a:t>
            </a: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7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 зоны своего ресторана, заказы ресторана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7"/>
          <p:cNvSpPr/>
          <p:nvPr/>
        </p:nvSpPr>
        <p:spPr>
          <a:xfrm>
            <a:off x="12461040" y="3182040"/>
            <a:ext cx="48312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8"/>
          <p:cNvSpPr/>
          <p:nvPr/>
        </p:nvSpPr>
        <p:spPr>
          <a:xfrm>
            <a:off x="12548880" y="3304440"/>
            <a:ext cx="465552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92500" lnSpcReduction="9999"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1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полный</a:t>
            </a:r>
            <a:r>
              <a:rPr lang="en-US" sz="20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доступ к меню, чтение заказов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9"/>
          <p:cNvSpPr/>
          <p:nvPr/>
        </p:nvSpPr>
        <p:spPr>
          <a:xfrm>
            <a:off x="994680" y="4046040"/>
            <a:ext cx="36414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0"/>
          <p:cNvSpPr/>
          <p:nvPr/>
        </p:nvSpPr>
        <p:spPr>
          <a:xfrm>
            <a:off x="1154880" y="4168440"/>
            <a:ext cx="343008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Курьер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1"/>
          <p:cNvSpPr/>
          <p:nvPr/>
        </p:nvSpPr>
        <p:spPr>
          <a:xfrm>
            <a:off x="4637520" y="4046040"/>
            <a:ext cx="782208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2"/>
          <p:cNvSpPr/>
          <p:nvPr/>
        </p:nvSpPr>
        <p:spPr>
          <a:xfrm>
            <a:off x="4798080" y="4168440"/>
            <a:ext cx="773604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 fontScale="92500" lnSpcReduction="9999"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2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назначенные orders, данные точек отправления и назначения</a:t>
            </a:r>
            <a:endParaRPr lang="ru-RU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3"/>
          <p:cNvSpPr/>
          <p:nvPr/>
        </p:nvSpPr>
        <p:spPr>
          <a:xfrm>
            <a:off x="12461040" y="4046040"/>
            <a:ext cx="4831200" cy="86256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4"/>
          <p:cNvSpPr/>
          <p:nvPr/>
        </p:nvSpPr>
        <p:spPr>
          <a:xfrm>
            <a:off x="12548880" y="4168440"/>
            <a:ext cx="4655520" cy="656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SELECT, UPDATE статуса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5"/>
          <p:cNvSpPr/>
          <p:nvPr/>
        </p:nvSpPr>
        <p:spPr>
          <a:xfrm>
            <a:off x="994680" y="4910040"/>
            <a:ext cx="3641400" cy="8492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6"/>
          <p:cNvSpPr/>
          <p:nvPr/>
        </p:nvSpPr>
        <p:spPr>
          <a:xfrm>
            <a:off x="1154880" y="5032080"/>
            <a:ext cx="3430080" cy="54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Администратор системы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7"/>
          <p:cNvSpPr/>
          <p:nvPr/>
        </p:nvSpPr>
        <p:spPr>
          <a:xfrm>
            <a:off x="4637520" y="4910040"/>
            <a:ext cx="7822080" cy="8492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8"/>
          <p:cNvSpPr/>
          <p:nvPr/>
        </p:nvSpPr>
        <p:spPr>
          <a:xfrm>
            <a:off x="4798080" y="5032080"/>
            <a:ext cx="7736040" cy="54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7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все таблицы, функции и системные объекты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9"/>
          <p:cNvSpPr/>
          <p:nvPr/>
        </p:nvSpPr>
        <p:spPr>
          <a:xfrm>
            <a:off x="12461040" y="4910040"/>
            <a:ext cx="4831200" cy="849240"/>
          </a:xfrm>
          <a:prstGeom prst="rect">
            <a:avLst/>
          </a:prstGeom>
          <a:solidFill>
            <a:srgbClr val="ffffff"/>
          </a:solidFill>
          <a:ln w="7937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0"/>
          <p:cNvSpPr/>
          <p:nvPr/>
        </p:nvSpPr>
        <p:spPr>
          <a:xfrm>
            <a:off x="12548880" y="5032080"/>
            <a:ext cx="4655520" cy="547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ctr">
            <a:normAutofit/>
          </a:bodyPr>
          <a:p>
            <a:pPr algn="ctr" defTabSz="914400">
              <a:lnSpc>
                <a:spcPct val="121000"/>
              </a:lnSpc>
              <a:tabLst>
                <a:tab algn="l" pos="0"/>
              </a:tabLst>
            </a:pPr>
            <a:r>
              <a:rPr lang="en-US" sz="18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полный доступ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1"/>
          <p:cNvSpPr/>
          <p:nvPr/>
        </p:nvSpPr>
        <p:spPr>
          <a:xfrm>
            <a:off x="17040240" y="9601200"/>
            <a:ext cx="33192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Средства реализации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1"/>
          <p:cNvSpPr/>
          <p:nvPr/>
        </p:nvSpPr>
        <p:spPr>
          <a:xfrm>
            <a:off x="990720" y="172584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990720" y="188640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ЯЗЫК ПРОГРАММИРОВАНИЯ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"/>
          <p:cNvSpPr/>
          <p:nvPr/>
        </p:nvSpPr>
        <p:spPr>
          <a:xfrm>
            <a:off x="990720" y="223236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Java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990720" y="264960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строго типизированный ООП-язык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9448920" y="172584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9448920" y="188640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ФРЕЙМВОРК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7"/>
          <p:cNvSpPr/>
          <p:nvPr/>
        </p:nvSpPr>
        <p:spPr>
          <a:xfrm>
            <a:off x="9448920" y="223236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Spring Boot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9448920" y="264960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автоконфигурация, встроенный сервер приложений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990720" y="321336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0"/>
          <p:cNvSpPr/>
          <p:nvPr/>
        </p:nvSpPr>
        <p:spPr>
          <a:xfrm>
            <a:off x="990720" y="337392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ДОСТУП К ДАННЫМ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1"/>
          <p:cNvSpPr/>
          <p:nvPr/>
        </p:nvSpPr>
        <p:spPr>
          <a:xfrm>
            <a:off x="990720" y="371988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Spring Data JPA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990720" y="413712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ORM и работа через репозитории без ручного SQL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9448920" y="321336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4"/>
          <p:cNvSpPr/>
          <p:nvPr/>
        </p:nvSpPr>
        <p:spPr>
          <a:xfrm>
            <a:off x="9448920" y="337392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КЭШИРОВАНИЕ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9448920" y="371988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Spring Data Redis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6"/>
          <p:cNvSpPr/>
          <p:nvPr/>
        </p:nvSpPr>
        <p:spPr>
          <a:xfrm>
            <a:off x="9448920" y="413712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взаимодействие со структурами данных Redis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7"/>
          <p:cNvSpPr/>
          <p:nvPr/>
        </p:nvSpPr>
        <p:spPr>
          <a:xfrm>
            <a:off x="990720" y="470088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8"/>
          <p:cNvSpPr/>
          <p:nvPr/>
        </p:nvSpPr>
        <p:spPr>
          <a:xfrm>
            <a:off x="990720" y="486108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СУБД / IN-MEMORY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9"/>
          <p:cNvSpPr/>
          <p:nvPr/>
        </p:nvSpPr>
        <p:spPr>
          <a:xfrm>
            <a:off x="990720" y="520740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PostgreSQL / Redis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0"/>
          <p:cNvSpPr/>
          <p:nvPr/>
        </p:nvSpPr>
        <p:spPr>
          <a:xfrm>
            <a:off x="990720" y="562464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реляционное хранилище и кэш «ключ–значение»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1"/>
          <p:cNvSpPr/>
          <p:nvPr/>
        </p:nvSpPr>
        <p:spPr>
          <a:xfrm>
            <a:off x="9448920" y="4700880"/>
            <a:ext cx="7847280" cy="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5640" bIns="-35640" anchor="t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2"/>
          <p:cNvSpPr/>
          <p:nvPr/>
        </p:nvSpPr>
        <p:spPr>
          <a:xfrm>
            <a:off x="9448920" y="4861080"/>
            <a:ext cx="80827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pc="108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ПУБЛИЧНЫЙ API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3"/>
          <p:cNvSpPr/>
          <p:nvPr/>
        </p:nvSpPr>
        <p:spPr>
          <a:xfrm>
            <a:off x="9448920" y="5207400"/>
            <a:ext cx="808272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REST, Swagger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4"/>
          <p:cNvSpPr/>
          <p:nvPr/>
        </p:nvSpPr>
        <p:spPr>
          <a:xfrm>
            <a:off x="9448920" y="5624640"/>
            <a:ext cx="8082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открытый API с интерактивной документацией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5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33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Алгоритм исследования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4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/>
          <p:nvPr/>
        </p:nvSpPr>
        <p:spPr>
          <a:xfrm>
            <a:off x="900000" y="1440000"/>
            <a:ext cx="16199640" cy="77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Технические характеристики: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Процессор: Intel Core i5-1135G7 4.20 ГГц, 4 физических ядра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Оперативная память 8 Гб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Операционная система: EndeavourOS Linux 7.0.10-arch1-1 x86_64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4" name=""/>
          <p:cNvGraphicFramePr/>
          <p:nvPr/>
        </p:nvGraphicFramePr>
        <p:xfrm>
          <a:off x="1113120" y="3293640"/>
          <a:ext cx="13826520" cy="5158800"/>
        </p:xfrm>
        <a:graphic>
          <a:graphicData uri="http://schemas.openxmlformats.org/drawingml/2006/table">
            <a:tbl>
              <a:tblPr/>
              <a:tblGrid>
                <a:gridCol w="4608000"/>
                <a:gridCol w="4608000"/>
                <a:gridCol w="4610880"/>
              </a:tblGrid>
              <a:tr h="9972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Кэширование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Индексы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972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Запрос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SELECT * FROM restaurants WHERE is_active = true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SELECT order_id , total_amount FROM orders WHERE customer_id = $1 AND status = 'delivered'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972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Объём данных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 = {500, 1000, 1500, 2000, 2500, 3000, 3500, 4000, 4500, 5000}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 = {10000, 25000, 50000, 100000,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200000, 300000, 400000, 500000}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972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Количество замеров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50(медиана)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30 (медиана)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97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Измерение</a:t>
                      </a:r>
                      <a:endParaRPr lang="ru-RU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time.perf_counter()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EXPLAIN (ANALYZE, TIMING)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Результаты исследования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990720" y="172584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1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ВЛИЯНИЕ КЭШИРОВАНИЯ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9448920" y="1725840"/>
            <a:ext cx="8082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100" b="1" u="none" spc="167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ВЛИЯНИЕ ИНДЕКСОВ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472480"/>
            <a:ext cx="8999280" cy="454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9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360000" y="2700720"/>
            <a:ext cx="8553960" cy="431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Text 29"/>
          <p:cNvSpPr/>
          <p:nvPr/>
        </p:nvSpPr>
        <p:spPr>
          <a:xfrm>
            <a:off x="17021880" y="960156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870480" y="7200000"/>
            <a:ext cx="8669520" cy="260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Линейная аппроксимация времени выполнения запроса: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PostgreSQL: y = 0.0038x − 0.57 (R² = 0.991)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Redis: y = 0.0010x − 0.49 (R² = 0.962)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Время отклика PostgreSQL растёт в 3.8 раза быстрее, чем у Redis.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966240" y="7269120"/>
            <a:ext cx="6413760" cy="263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Ускорение от индекса: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10К строк — 2.9x (данные в памяти)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25К–200К строк — 5.3–5.4x (пик эффективности)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200К+ строк — 2.6x (оба варианта на диске)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990720" y="685800"/>
            <a:ext cx="167947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3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Заключение</a:t>
            </a:r>
            <a:endParaRPr lang="ru-RU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990720" y="1440000"/>
            <a:ext cx="1569564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Разработаны база данных для системы онлайн-заказа еды и приложение для доступа к ней.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lang="en-US" sz="27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Все поставленные задачи выполнены:</a:t>
            </a:r>
            <a:endParaRPr lang="ru-RU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17021880" y="9601200"/>
            <a:ext cx="35028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95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ru-RU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900000" y="2880000"/>
            <a:ext cx="15479280" cy="452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35000"/>
              </a:lnSpc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проанализированы существующие системы онлайн-заказа еды;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определены требования и ограничения к разрабатываемой базе данных и приложению;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спроектирована база данных и заданы ограничения целостности;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выбраны средства реализации базы данных и приложения;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реализованы спроектированные база данных и приложение;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3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AutoNum type="arabicParenR"/>
              <a:tabLst>
                <a:tab algn="l" pos="0"/>
              </a:tabLst>
            </a:pPr>
            <a:r>
              <a:rPr lang="en-US" sz="217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проведёно исследование влияния внешнего кэширования и индексации на время выполнения запросов к базе данных.</a:t>
            </a:r>
            <a:endParaRPr lang="ru-RU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Application>LibreOffice/25.8.7.3$Linux_X86_64 LibreOffice_project/580$Build-3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2026-06-01T19:44:34Z</dcterms:created>
  <dc:creator>PptxGenJS</dc:creator>
  <dc:description/>
  <dc:language>ru-RU</dc:language>
  <cp:lastModifiedBy/>
  <cp:lastPrinted>2026-06-06T23:53:31Z</cp:lastPrinted>
  <dcterms:modified xsi:type="dcterms:W3CDTF">2026-06-09T00:11:18Z</dcterms:modified>
  <cp:revision>24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