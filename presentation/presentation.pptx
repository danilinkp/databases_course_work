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media/image12.svg" ContentType="image/svg"/>
  <Override PartName="/ppt/media/image22.svg" ContentType="image/svg"/>
  <Override PartName="/ppt/media/image20.svg" ContentType="image/svg"/>
  <Override PartName="/ppt/media/image10.svg" ContentType="image/svg"/>
  <Override PartName="/ppt/media/image6.svg" ContentType="image/svg"/>
  <Override PartName="/ppt/media/image14.svg" ContentType="image/svg"/>
  <Override PartName="/ppt/media/image2.svg" ContentType="image/svg"/>
  <Override PartName="/ppt/media/image4.svg" ContentType="image/svg"/>
  <Override PartName="/ppt/media/image8.svg" ContentType="image/sv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5840" cy="753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62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5840" cy="317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A8C925E-9D33-4A4C-8E92-1261BD1D2F53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5520" cy="4088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1ADBF9E-527F-45E8-8BE8-8222161963E6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6;p9"/>
          <p:cNvSpPr/>
          <p:nvPr/>
        </p:nvSpPr>
        <p:spPr>
          <a:xfrm>
            <a:off x="4572000" y="0"/>
            <a:ext cx="4569840" cy="51415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3160" cy="148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77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4720" cy="369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7F35AEE-BD68-4184-AF4E-398246084BA4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6520" cy="60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58FDC01-3590-4BF4-BE2B-8DE685C304A3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8320" cy="205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11FA51-60FB-48CA-94E1-468425AFF0BF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18320" cy="196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lang="ru-RU" sz="1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18320" cy="1298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0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9B781A-EFA4-482A-BF67-AD178CDB528B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28F63B-E0CB-4A03-BFD0-DBF1DDA900D6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18320" cy="83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77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223639-DF92-4160-ADDF-CCC59FAFD6C4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320" cy="57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8320" cy="341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2B31F6C-6FF5-4951-950E-F1B0AC8332B1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320" cy="57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7800" cy="341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7800" cy="341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C85A0AD-2DAF-4F36-94BD-DB90665B0962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320" cy="57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48A0159-8E60-4BF7-B2B2-38C14F035F98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4720" cy="992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dt" idx="12"/>
          </p:nvPr>
        </p:nvSpPr>
        <p:spPr>
          <a:xfrm>
            <a:off x="628560" y="4767120"/>
            <a:ext cx="205524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ftr" idx="13"/>
          </p:nvPr>
        </p:nvSpPr>
        <p:spPr>
          <a:xfrm>
            <a:off x="3029040" y="4767120"/>
            <a:ext cx="308412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14"/>
          </p:nvPr>
        </p:nvSpPr>
        <p:spPr>
          <a:xfrm>
            <a:off x="6458040" y="4767120"/>
            <a:ext cx="205524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F1B87A2-F6E8-4E46-914D-5C1E81100561}" type="slidenum">
              <a: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dt" idx="15"/>
          </p:nvPr>
        </p:nvSpPr>
        <p:spPr>
          <a:xfrm>
            <a:off x="628560" y="4767120"/>
            <a:ext cx="205524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16"/>
          </p:nvPr>
        </p:nvSpPr>
        <p:spPr>
          <a:xfrm>
            <a:off x="3029040" y="4767120"/>
            <a:ext cx="308412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17"/>
          </p:nvPr>
        </p:nvSpPr>
        <p:spPr>
          <a:xfrm>
            <a:off x="6458040" y="4767120"/>
            <a:ext cx="205524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E407191-77EC-44D1-95B6-FC511DBD1B16}" type="slidenum">
              <a: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30000" y="343080"/>
            <a:ext cx="2946960" cy="11980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3887280" y="740520"/>
            <a:ext cx="4627080" cy="3652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rmAutofit fontScale="77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630000" y="1542960"/>
            <a:ext cx="2946960" cy="2856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rmAutofit fontScale="40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dt" idx="18"/>
          </p:nvPr>
        </p:nvSpPr>
        <p:spPr>
          <a:xfrm>
            <a:off x="628560" y="4767120"/>
            <a:ext cx="205524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ftr" idx="19"/>
          </p:nvPr>
        </p:nvSpPr>
        <p:spPr>
          <a:xfrm>
            <a:off x="3029040" y="4767120"/>
            <a:ext cx="308412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sldNum" idx="20"/>
          </p:nvPr>
        </p:nvSpPr>
        <p:spPr>
          <a:xfrm>
            <a:off x="6458040" y="4767120"/>
            <a:ext cx="205524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BEDC718-DF63-48BD-B630-F0BEE8FE2F3A}" type="slidenum">
              <a: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30000" y="343080"/>
            <a:ext cx="2946960" cy="11980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3887280" y="740520"/>
            <a:ext cx="4627080" cy="365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630000" y="1542960"/>
            <a:ext cx="2946960" cy="2856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rmAutofit fontScale="40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1"/>
          </p:nvPr>
        </p:nvSpPr>
        <p:spPr>
          <a:xfrm>
            <a:off x="628560" y="4767120"/>
            <a:ext cx="205524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2"/>
          </p:nvPr>
        </p:nvSpPr>
        <p:spPr>
          <a:xfrm>
            <a:off x="3029040" y="4767120"/>
            <a:ext cx="308412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3"/>
          </p:nvPr>
        </p:nvSpPr>
        <p:spPr>
          <a:xfrm>
            <a:off x="6458040" y="4767120"/>
            <a:ext cx="205524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F0AC85-AE0C-4D1C-8E11-3C0E89029455}" type="slidenum">
              <a: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5840" cy="17884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b">
            <a:normAutofit fontScale="850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4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dt" idx="24"/>
          </p:nvPr>
        </p:nvSpPr>
        <p:spPr>
          <a:xfrm>
            <a:off x="628560" y="4767120"/>
            <a:ext cx="205524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ftr" idx="25"/>
          </p:nvPr>
        </p:nvSpPr>
        <p:spPr>
          <a:xfrm>
            <a:off x="3029040" y="4767120"/>
            <a:ext cx="308412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sldNum" idx="26"/>
          </p:nvPr>
        </p:nvSpPr>
        <p:spPr>
          <a:xfrm>
            <a:off x="6458040" y="4767120"/>
            <a:ext cx="205524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94238D-490A-495F-8743-6CB0FC1DA6ED}" type="slidenum">
              <a: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4720" cy="992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 rot="5400000">
            <a:off x="2942280" y="-940680"/>
            <a:ext cx="3261240" cy="78847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27"/>
          </p:nvPr>
        </p:nvSpPr>
        <p:spPr>
          <a:xfrm>
            <a:off x="628560" y="4767120"/>
            <a:ext cx="205524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28"/>
          </p:nvPr>
        </p:nvSpPr>
        <p:spPr>
          <a:xfrm>
            <a:off x="3029040" y="4767120"/>
            <a:ext cx="308412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29"/>
          </p:nvPr>
        </p:nvSpPr>
        <p:spPr>
          <a:xfrm>
            <a:off x="6458040" y="4767120"/>
            <a:ext cx="205524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CDAE25-6909-4860-A62F-43BFA73FA1E0}" type="slidenum">
              <a: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 rot="5400000">
            <a:off x="5352120" y="1467360"/>
            <a:ext cx="4356720" cy="1969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 rot="5400000">
            <a:off x="1351440" y="-444960"/>
            <a:ext cx="4356720" cy="5798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dt" idx="30"/>
          </p:nvPr>
        </p:nvSpPr>
        <p:spPr>
          <a:xfrm>
            <a:off x="628560" y="4767120"/>
            <a:ext cx="205524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ftr" idx="31"/>
          </p:nvPr>
        </p:nvSpPr>
        <p:spPr>
          <a:xfrm>
            <a:off x="3029040" y="4767120"/>
            <a:ext cx="308412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sldNum" idx="32"/>
          </p:nvPr>
        </p:nvSpPr>
        <p:spPr>
          <a:xfrm>
            <a:off x="6458040" y="4767120"/>
            <a:ext cx="205524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D7A131-B099-4E96-9729-93009604E151}" type="slidenum">
              <a: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4720" cy="992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4720" cy="326124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dt" idx="33"/>
          </p:nvPr>
        </p:nvSpPr>
        <p:spPr>
          <a:xfrm>
            <a:off x="628560" y="4767120"/>
            <a:ext cx="205524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ftr" idx="34"/>
          </p:nvPr>
        </p:nvSpPr>
        <p:spPr>
          <a:xfrm>
            <a:off x="3029040" y="4767120"/>
            <a:ext cx="308412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sldNum" idx="35"/>
          </p:nvPr>
        </p:nvSpPr>
        <p:spPr>
          <a:xfrm>
            <a:off x="6458040" y="4767120"/>
            <a:ext cx="205524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00CCA86-1786-428B-961F-BEA221C194F0}" type="slidenum">
              <a: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23880" y="1282320"/>
            <a:ext cx="7884720" cy="21373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4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23880" y="3441960"/>
            <a:ext cx="7884720" cy="11232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rmAutofit fontScale="40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dt" idx="36"/>
          </p:nvPr>
        </p:nvSpPr>
        <p:spPr>
          <a:xfrm>
            <a:off x="628560" y="4767120"/>
            <a:ext cx="205524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ftr" idx="37"/>
          </p:nvPr>
        </p:nvSpPr>
        <p:spPr>
          <a:xfrm>
            <a:off x="3029040" y="4767120"/>
            <a:ext cx="308412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sldNum" idx="38"/>
          </p:nvPr>
        </p:nvSpPr>
        <p:spPr>
          <a:xfrm>
            <a:off x="6458040" y="4767120"/>
            <a:ext cx="205524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FD258D-70D6-4E30-BF24-21BAA7BEFA40}" type="slidenum">
              <a: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4720" cy="992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84040" cy="326124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4629240" y="1369080"/>
            <a:ext cx="3884040" cy="326124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dt" idx="39"/>
          </p:nvPr>
        </p:nvSpPr>
        <p:spPr>
          <a:xfrm>
            <a:off x="628560" y="4767120"/>
            <a:ext cx="205524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ftr" idx="40"/>
          </p:nvPr>
        </p:nvSpPr>
        <p:spPr>
          <a:xfrm>
            <a:off x="3029040" y="4767120"/>
            <a:ext cx="308412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6"/>
          <p:cNvSpPr>
            <a:spLocks noGrp="1"/>
          </p:cNvSpPr>
          <p:nvPr>
            <p:ph type="sldNum" idx="41"/>
          </p:nvPr>
        </p:nvSpPr>
        <p:spPr>
          <a:xfrm>
            <a:off x="6458040" y="4767120"/>
            <a:ext cx="205524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AF65EF-82CC-4486-A144-E84689F76115}" type="slidenum">
              <a: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30000" y="273960"/>
            <a:ext cx="7884720" cy="992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30000" y="1260720"/>
            <a:ext cx="3866400" cy="6159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b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630000" y="1878840"/>
            <a:ext cx="3866400" cy="2761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body"/>
          </p:nvPr>
        </p:nvSpPr>
        <p:spPr>
          <a:xfrm>
            <a:off x="4629240" y="1260720"/>
            <a:ext cx="3885120" cy="6159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b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body"/>
          </p:nvPr>
        </p:nvSpPr>
        <p:spPr>
          <a:xfrm>
            <a:off x="4629240" y="1878840"/>
            <a:ext cx="3885120" cy="2761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 type="dt" idx="42"/>
          </p:nvPr>
        </p:nvSpPr>
        <p:spPr>
          <a:xfrm>
            <a:off x="628560" y="4767120"/>
            <a:ext cx="205524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7"/>
          <p:cNvSpPr>
            <a:spLocks noGrp="1"/>
          </p:cNvSpPr>
          <p:nvPr>
            <p:ph type="ftr" idx="43"/>
          </p:nvPr>
        </p:nvSpPr>
        <p:spPr>
          <a:xfrm>
            <a:off x="3029040" y="4767120"/>
            <a:ext cx="308412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8"/>
          <p:cNvSpPr>
            <a:spLocks noGrp="1"/>
          </p:cNvSpPr>
          <p:nvPr>
            <p:ph type="sldNum" idx="44"/>
          </p:nvPr>
        </p:nvSpPr>
        <p:spPr>
          <a:xfrm>
            <a:off x="6458040" y="4767120"/>
            <a:ext cx="2055240" cy="271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226CC1D-80E3-4789-971E-DA4AD9E12F7C}" type="slidenum">
              <a: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1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slideLayout" Target="../slideLayouts/slideLayout1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slideLayout" Target="../slideLayouts/slideLayout1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slideLayout" Target="../slideLayouts/slideLayout1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svg"/><Relationship Id="rId3" Type="http://schemas.openxmlformats.org/officeDocument/2006/relationships/slideLayout" Target="../slideLayouts/slideLayout1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svg"/><Relationship Id="rId3" Type="http://schemas.openxmlformats.org/officeDocument/2006/relationships/slideLayout" Target="../slideLayouts/slideLayout1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svg"/><Relationship Id="rId3" Type="http://schemas.openxmlformats.org/officeDocument/2006/relationships/slideLayout" Target="../slideLayouts/slideLayout1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svg"/><Relationship Id="rId4" Type="http://schemas.openxmlformats.org/officeDocument/2006/relationships/slideLayout" Target="../slideLayouts/slideLayout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svg"/><Relationship Id="rId3" Type="http://schemas.openxmlformats.org/officeDocument/2006/relationships/slideLayout" Target="../slideLayouts/slideLayout1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092600" y="2121840"/>
            <a:ext cx="6925320" cy="13600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b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lang="ru" sz="3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Разработка базы данных для системы онлайн-заказа еды</a:t>
            </a:r>
            <a:br>
              <a:rPr sz="3000"/>
            </a:b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5940000" y="3834360"/>
            <a:ext cx="3240000" cy="739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" sz="1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Студент: Павлов Даниил Вячеславович. Группа: ИУ7-63Б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" sz="1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Руководитель: Кивва Кирилл Андреевич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31;p25"/>
          <p:cNvSpPr/>
          <p:nvPr/>
        </p:nvSpPr>
        <p:spPr>
          <a:xfrm>
            <a:off x="1092600" y="452520"/>
            <a:ext cx="6925320" cy="13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 anchorCtr="1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ru" sz="1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Министерство науки и высшего образования Российской Федерации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ru" sz="1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Федеральное государственное автономное образовательное учреждение высшего образования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ru" sz="1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«Московский государственный технический университет имени Н. Э. Баумана (национальный исследовательский университет)»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ru" sz="1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(МГТУ им. Н. Э. Баумана)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32;p25"/>
          <p:cNvSpPr/>
          <p:nvPr/>
        </p:nvSpPr>
        <p:spPr>
          <a:xfrm>
            <a:off x="4262400" y="4650840"/>
            <a:ext cx="616680" cy="29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norm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lang="ru" sz="13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2026г.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4720" cy="992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" sz="33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Цель и задачи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28560" y="1369080"/>
            <a:ext cx="7884720" cy="326124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rmAutofit lnSpcReduction="9999"/>
          </a:bodyPr>
          <a:p>
            <a:pPr indent="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lang="ru" sz="16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Цель</a:t>
            </a:r>
            <a:r>
              <a:rPr lang="ru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— разработка программного обеспечения, с графическим пользовательским интерфейсом для визуализации трёхмерных деревьев на основе L-систем с учётом параметров освещения, правил L-системы, углов ветвления и количества итераций генерации.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</a:tabLst>
            </a:pP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lang="ru" sz="16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Задачи</a:t>
            </a:r>
            <a:r>
              <a:rPr lang="ru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: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30120"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ru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провести сравнительный анализ существующих методов генерации трёхмерных деревьев и сделать выводы о применении L-систем для решения поставленной задачи;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3012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ru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спроектировать метод генерации трёхмерных деревьев на основе Lсистем и описать его;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3012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ru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выбрать средства для разработки ПО и реализовать систему визуализации;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3012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ru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провести исследование работы программы.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8821080" y="4717440"/>
            <a:ext cx="305856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fld id="{2EF4EADF-E498-4050-8614-97A1F7997FC9}" type="slidenum"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4720" cy="992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" sz="33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Визуализируемая сцена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628560" y="1440000"/>
            <a:ext cx="7884720" cy="326124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rmAutofit/>
          </a:bodyPr>
          <a:p>
            <a:pPr indent="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lang="ru" sz="2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Сцена состоит из следующего набора объектов: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30120"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ru" sz="2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дерево (ствол, ветви и листья);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3012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ru" sz="2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направленный источник света;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3012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ru" sz="2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камера.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</a:tabLst>
            </a:pPr>
            <a:br>
              <a:rPr sz="1600"/>
            </a:b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</a:tabLst>
            </a:pP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8821080" y="4717440"/>
            <a:ext cx="341856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fld id="{D54F464B-C7CE-45B1-A9D6-D99219A5ECA9}" type="slidenum"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4720" cy="992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" sz="33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Сравнительный анализ и выбор метода генерации деревьев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9" name="Google Shape;150;p28"/>
          <p:cNvGraphicFramePr/>
          <p:nvPr/>
        </p:nvGraphicFramePr>
        <p:xfrm>
          <a:off x="628560" y="1463760"/>
          <a:ext cx="7885440" cy="3295080"/>
        </p:xfrm>
        <a:graphic>
          <a:graphicData uri="http://schemas.openxmlformats.org/drawingml/2006/table">
            <a:tbl>
              <a:tblPr/>
              <a:tblGrid>
                <a:gridCol w="1717200"/>
                <a:gridCol w="1437120"/>
                <a:gridCol w="1577160"/>
                <a:gridCol w="1577160"/>
                <a:gridCol w="1577160"/>
              </a:tblGrid>
              <a:tr h="621360"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Критерий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Фракталы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Space Colonization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L-системы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Физ. модели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1928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Вычислительная сложность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Линейная 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Квадратичная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Линейная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Квадратичная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964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Управляющие параметры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3–5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8-12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5-10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&gt;15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6728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Интерактивность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Возможна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Невозможна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Возможна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Невозможна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964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Разнообразие при одних параметрах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Нет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Ограниченное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Да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Да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964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Асимметричность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Ограничена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Да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Да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Да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0" name=""/>
          <p:cNvSpPr/>
          <p:nvPr/>
        </p:nvSpPr>
        <p:spPr>
          <a:xfrm>
            <a:off x="8820000" y="4717440"/>
            <a:ext cx="341856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fld id="{10105FDD-3536-4DA2-8653-7E124C8F2BA9}" type="slidenum"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4720" cy="992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" sz="33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Сравнительный анализ и выбор метода рендера модели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2" name="Google Shape;169;p31"/>
          <p:cNvGraphicFramePr/>
          <p:nvPr/>
        </p:nvGraphicFramePr>
        <p:xfrm>
          <a:off x="925200" y="1838160"/>
          <a:ext cx="7238160" cy="2071800"/>
        </p:xfrm>
        <a:graphic>
          <a:graphicData uri="http://schemas.openxmlformats.org/drawingml/2006/table">
            <a:tbl>
              <a:tblPr/>
              <a:tblGrid>
                <a:gridCol w="2412720"/>
                <a:gridCol w="2534040"/>
                <a:gridCol w="2291760"/>
              </a:tblGrid>
              <a:tr h="380880"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Критерий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Растеризация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Трассировка лучей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Базовый принцип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Перебор объектов сцены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Перебор пикселей экрана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2920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Вычислительная сложность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Линейная от числа полигонов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Логарифмическая от числа полигонов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5784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Глобальное освещение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Требует аппроксимаций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Реализуется естественно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428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Применимость для L-систем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Высокая (быстрый вывод множества мелких деталей)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Средняя (требует построения BVH-деревьев)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3" name=""/>
          <p:cNvSpPr/>
          <p:nvPr/>
        </p:nvSpPr>
        <p:spPr>
          <a:xfrm>
            <a:off x="8820000" y="4717440"/>
            <a:ext cx="341856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fld id="{7D790453-0C64-4569-9AAA-4B479E28F129}" type="slidenum"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4720" cy="992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 fontScale="92500" lnSpcReduction="9999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" sz="33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Сравнительный анализ и выбор метода удаления невидимых поверхностей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5" name="Google Shape;169;p 1"/>
          <p:cNvGraphicFramePr/>
          <p:nvPr/>
        </p:nvGraphicFramePr>
        <p:xfrm>
          <a:off x="760680" y="1374480"/>
          <a:ext cx="7518960" cy="2427840"/>
        </p:xfrm>
        <a:graphic>
          <a:graphicData uri="http://schemas.openxmlformats.org/drawingml/2006/table">
            <a:tbl>
              <a:tblPr/>
              <a:tblGrid>
                <a:gridCol w="2593080"/>
                <a:gridCol w="2462760"/>
                <a:gridCol w="2463480"/>
              </a:tblGrid>
              <a:tr h="250560"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Критерий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BSP-дерево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Z-буфер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34632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Вычислительная сложность 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O(N) на кадр (обход дерева) 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O(N × A), где A — площадь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проекции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52920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Память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O(N log N ) (структура дере-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ва)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O(R</a:t>
                      </a:r>
                      <a:r>
                        <a:rPr lang="ru" sz="1200" b="0" u="none" strike="noStrike" baseline="33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2</a:t>
                      </a: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) (буфер глубины)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35784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Предобработка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Требуется O(N log N) 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Не требуется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40428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Порядок рендеринга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Не зависит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Не зависит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40428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Динамические сцены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Нет (требуется перестроение)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Полная поддержка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06" name=""/>
          <p:cNvSpPr/>
          <p:nvPr/>
        </p:nvSpPr>
        <p:spPr>
          <a:xfrm>
            <a:off x="8811000" y="4688280"/>
            <a:ext cx="3326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fld id="{D5D640CC-5D19-4493-9964-0B26CCBF223C}" type="slidenum"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4720" cy="992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" sz="33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Сравнительный анализ и выбор модели освещения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8" name="Google Shape;169;p 2"/>
          <p:cNvGraphicFramePr/>
          <p:nvPr/>
        </p:nvGraphicFramePr>
        <p:xfrm>
          <a:off x="550800" y="1425240"/>
          <a:ext cx="8084520" cy="2321640"/>
        </p:xfrm>
        <a:graphic>
          <a:graphicData uri="http://schemas.openxmlformats.org/drawingml/2006/table">
            <a:tbl>
              <a:tblPr/>
              <a:tblGrid>
                <a:gridCol w="2099880"/>
                <a:gridCol w="1994400"/>
                <a:gridCol w="1995120"/>
                <a:gridCol w="1995480"/>
              </a:tblGrid>
              <a:tr h="347760"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Критерий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Ламберт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Фонг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Блинн-Фонг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34632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Учитываемые компоненты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Только диффузное отражение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Диффузное + зеркальное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Диффузное +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зеркальное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52920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Зависимость от угла обзора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Нет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Да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Да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35784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Вычислительная сложность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Низкая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Высокая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Умеренная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52956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Визуальный реализм 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Низкий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Высокий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Высокий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09" name=""/>
          <p:cNvSpPr/>
          <p:nvPr/>
        </p:nvSpPr>
        <p:spPr>
          <a:xfrm>
            <a:off x="8820000" y="4688280"/>
            <a:ext cx="3319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fld id="{E41ED7C6-E073-4458-ABE5-F9DB93F48900}" type="slidenum"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4720" cy="992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" sz="33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Сравнительный анализ и выбор алгоритмов построения теней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1" name="Google Shape;169;p 3"/>
          <p:cNvGraphicFramePr/>
          <p:nvPr/>
        </p:nvGraphicFramePr>
        <p:xfrm>
          <a:off x="550800" y="1425240"/>
          <a:ext cx="8088840" cy="2543760"/>
        </p:xfrm>
        <a:graphic>
          <a:graphicData uri="http://schemas.openxmlformats.org/drawingml/2006/table">
            <a:tbl>
              <a:tblPr/>
              <a:tblGrid>
                <a:gridCol w="2789280"/>
                <a:gridCol w="2648880"/>
                <a:gridCol w="2651040"/>
              </a:tblGrid>
              <a:tr h="347760"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Критерий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Теневые объёмы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Карты теней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34632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Зависимость от геометрической сложности сцены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Да (требуется обработка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всех силуэтных рёбер)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Нет (зависит только от разрешения карты теней)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52920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Вычислительная сложность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Высокая для сложных моделей (например, деревьев с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тысячами листьев)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Умеренная, фиксированная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по геометрии (масштабируется с разрешением)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35784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Требуемая дополнительная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геометрия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Да (генерация теневых объёмов)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Нет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52956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Подходящее применение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Простые сцены с чёткими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границами теней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Сложные сцены, включая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высокополигональную растительность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12" name=""/>
          <p:cNvSpPr/>
          <p:nvPr/>
        </p:nvSpPr>
        <p:spPr>
          <a:xfrm>
            <a:off x="8820000" y="4688280"/>
            <a:ext cx="3319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fld id="{73F44D84-5EA9-43DA-A718-A95BB6CA1C3F}" type="slidenum"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540000" y="0"/>
            <a:ext cx="7884720" cy="992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" sz="33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Формализация поставленной задачи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8820000" y="4688280"/>
            <a:ext cx="3319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fld id="{B16239AE-75CB-4C0D-896F-AFB80610FF47}" type="slidenum"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173" t="15048" r="4668" b="26832"/>
          <a:stretch/>
        </p:blipFill>
        <p:spPr>
          <a:xfrm>
            <a:off x="1080000" y="1260000"/>
            <a:ext cx="6886800" cy="305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40000" y="0"/>
            <a:ext cx="7884720" cy="992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" sz="33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Формализация поставленной задачи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8640000" y="4680000"/>
            <a:ext cx="4852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fld id="{A351947A-7399-4E1D-9C12-7C7879FA1AB8}" type="slidenum"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105" t="12815" r="4658" b="9919"/>
          <a:stretch/>
        </p:blipFill>
        <p:spPr>
          <a:xfrm>
            <a:off x="1099800" y="777960"/>
            <a:ext cx="7179840" cy="3936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8189640" cy="992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" sz="33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Схема алгоритма построения изображения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080000" y="1260000"/>
            <a:ext cx="6303240" cy="368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"/>
          <p:cNvSpPr/>
          <p:nvPr/>
        </p:nvSpPr>
        <p:spPr>
          <a:xfrm>
            <a:off x="8705880" y="4717440"/>
            <a:ext cx="4737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fld id="{51B1A0A3-BCB7-4BFD-89CF-3A5F705C23C1}" type="slidenum"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4720" cy="992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" sz="33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Схема алгоритма, использующий z-буфер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800000" y="1139040"/>
            <a:ext cx="5398200" cy="400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"/>
          <p:cNvSpPr/>
          <p:nvPr/>
        </p:nvSpPr>
        <p:spPr>
          <a:xfrm>
            <a:off x="8641080" y="4717440"/>
            <a:ext cx="341856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fld id="{7D4AE3FE-38FA-48AC-BB2A-3F17864A7FC8}" type="slidenum"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4720" cy="992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" sz="33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Схема алгоритма построения карты теней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962000" y="1084320"/>
            <a:ext cx="4876200" cy="395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"/>
          <p:cNvSpPr/>
          <p:nvPr/>
        </p:nvSpPr>
        <p:spPr>
          <a:xfrm>
            <a:off x="8658360" y="4688280"/>
            <a:ext cx="4852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fld id="{BCA584AE-AC30-45C0-91EA-E95E07813E90}" type="slidenum"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28560" y="87480"/>
            <a:ext cx="8191080" cy="992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" sz="33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Архитектура программного обеспечения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628560" y="1369080"/>
            <a:ext cx="7884720" cy="326124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rmAutofit/>
          </a:bodyPr>
          <a:p>
            <a:pPr indent="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lang="ru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Язык программирования: C++.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lang="ru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GUI: Qt.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lang="ru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Среда разработки: CLion.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8658360" y="4688280"/>
            <a:ext cx="4852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fld id="{B0F307DD-99B7-43CD-BED9-62716415183A}" type="slidenum"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2160000" y="1055880"/>
            <a:ext cx="6352920" cy="3983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28560" y="0"/>
            <a:ext cx="7884720" cy="992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ru" sz="33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Диаграмма классов программы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8640000" y="4689000"/>
            <a:ext cx="4852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fld id="{3DC7AC2E-F574-4CC7-9252-8F6A38094103}" type="slidenum"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2139480" y="900000"/>
            <a:ext cx="5240160" cy="4136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540000" y="86760"/>
            <a:ext cx="7884720" cy="992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" sz="33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Интерфейс и пример работы программы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Google Shape;204;p37"/>
          <p:cNvPicPr/>
          <p:nvPr/>
        </p:nvPicPr>
        <p:blipFill>
          <a:blip r:embed="rId1"/>
          <a:stretch/>
        </p:blipFill>
        <p:spPr>
          <a:xfrm>
            <a:off x="1333440" y="1037160"/>
            <a:ext cx="6225480" cy="410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"/>
          <p:cNvSpPr/>
          <p:nvPr/>
        </p:nvSpPr>
        <p:spPr>
          <a:xfrm>
            <a:off x="8658360" y="4688280"/>
            <a:ext cx="4852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fld id="{7B0709E2-0B6A-49E1-BE01-F561B1CAEF61}" type="slidenum"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28560" y="85680"/>
            <a:ext cx="7884720" cy="99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Подготовка исследования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625680" y="1080000"/>
            <a:ext cx="8013240" cy="36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Технические характеристики: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Процессор: Intel Core i5-1135G7 4.20 ГГц, 4 физических ядра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Оперативная память 8 Гб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Операционная система: EndeavourOS Linux 6.17.9-arch1-1 x86_64.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Алгоритм исследования.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Варьируемые параметры: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Глубина L-системы: n=2…6n=2…6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Разрешение изображения: от 256×144 до 2560×1440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Разрешение карты теней: от 128×128 до 4096×4096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Фиксируемые параметры: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Аксиома: F; правило: F[+FL][-FL][&amp;FL][^FL]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Угол ветвления: 25∘; длина шага: 1.2 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Источник света: направленный (−1,−2,−1) 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8658360" y="4688280"/>
            <a:ext cx="4852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fld id="{8B7C6C07-079D-49FB-9E26-6692170F88E3}" type="slidenum"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28560" y="35640"/>
            <a:ext cx="8010360" cy="1223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 fontScale="92500" lnSpcReduction="9999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" sz="33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Исследование влияния параметров L-системы на производительность программы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Google Shape;210;p38"/>
          <p:cNvPicPr/>
          <p:nvPr/>
        </p:nvPicPr>
        <p:blipFill>
          <a:blip r:embed="rId1"/>
          <a:stretch/>
        </p:blipFill>
        <p:spPr>
          <a:xfrm>
            <a:off x="437400" y="1479960"/>
            <a:ext cx="4086360" cy="245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Google Shape;211;p38"/>
          <p:cNvPicPr/>
          <p:nvPr/>
        </p:nvPicPr>
        <p:blipFill>
          <a:blip r:embed="rId2"/>
          <a:stretch/>
        </p:blipFill>
        <p:spPr>
          <a:xfrm>
            <a:off x="4782960" y="1479960"/>
            <a:ext cx="4086360" cy="250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"/>
          <p:cNvSpPr/>
          <p:nvPr/>
        </p:nvSpPr>
        <p:spPr>
          <a:xfrm>
            <a:off x="8658360" y="4688280"/>
            <a:ext cx="4852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fld id="{F8C7B2BC-89F4-4787-9A1F-5266F6054F14}" type="slidenum"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384840" y="314640"/>
            <a:ext cx="8254080" cy="94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 fontScale="77500" lnSpcReduction="19999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" sz="33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Исследование влияния параметров изображения на производительность программы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Google Shape;217;p39"/>
          <p:cNvPicPr/>
          <p:nvPr/>
        </p:nvPicPr>
        <p:blipFill>
          <a:blip r:embed="rId1"/>
          <a:stretch/>
        </p:blipFill>
        <p:spPr>
          <a:xfrm>
            <a:off x="4513680" y="1601280"/>
            <a:ext cx="4573080" cy="271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"/>
          <p:cNvSpPr/>
          <p:nvPr/>
        </p:nvSpPr>
        <p:spPr>
          <a:xfrm>
            <a:off x="8658360" y="4688280"/>
            <a:ext cx="4852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fld id="{8F22C1DF-2B8D-4BD9-A42D-0B6FA8417D50}" type="slidenum"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8" name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3720" y="1602360"/>
            <a:ext cx="4499640" cy="2701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384840" y="314640"/>
            <a:ext cx="8254080" cy="76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 fontScale="85000" lnSpcReduction="9999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" sz="33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Исследование влияния угла обзора сцены на время рендеринга кадра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8659080" y="4689000"/>
            <a:ext cx="4845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fld id="{7E156DF1-1BEE-40F4-B6E4-75D3C22FC559}" type="slidenum"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291680" y="1080000"/>
            <a:ext cx="6627960" cy="3976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4720" cy="992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" sz="33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Заключение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628560" y="1369080"/>
            <a:ext cx="7884720" cy="326124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rmAutofit/>
          </a:bodyPr>
          <a:p>
            <a:pPr indent="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lang="ru" sz="16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Цель курсовой работы достигнута</a:t>
            </a:r>
            <a:r>
              <a:rPr lang="ru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: разработано программное обеспечение, с графическим пользовательским интерфейсом для визуализации трёхмерных деревьев на основе L-систем.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lang="ru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При этом были выполнены все поставленные задачи: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30120"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ru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проведён сравнительный анализ существующих методов генерации трёхмерных деревьев и сделаны выводы о применении L-систем для решения поставленной задачи;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3012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ru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спроектирован и описан метод генерации трёхмерных деревьев на основе L-систем;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3012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ru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выбраны средства для разработки ПО и реализована система визуализации;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3012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ru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проведено исследование работы программы.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8658360" y="4688280"/>
            <a:ext cx="4852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fld id="{ACA1BA35-A1E2-43AF-A55C-D74F9A5616A0}" type="slidenum"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LibreOffice/25.8.7.3$Linux_X86_64 LibreOffice_project/580$Build-3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dcterms:modified xsi:type="dcterms:W3CDTF">2026-06-01T22:24:08Z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